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Bodoni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5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C8xE8r47wd4BNEi/a1xqe3v5W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25AEC6-4FEF-441D-9CD0-A08CC5C57B59}">
  <a:tblStyle styleId="{E925AEC6-4FEF-441D-9CD0-A08CC5C57B59}" styleName="Table_0">
    <a:wholeTbl>
      <a:tcTxStyle b="off" i="off">
        <a:font>
          <a:latin typeface="Source Sans Pro Light"/>
          <a:ea typeface="Source Sans Pro Light"/>
          <a:cs typeface="Source Sans Pro Ligh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52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Bodoni-bold.fntdata"/><Relationship Id="rId25" Type="http://schemas.openxmlformats.org/officeDocument/2006/relationships/font" Target="fonts/Bodoni-regular.fntdata"/><Relationship Id="rId28" Type="http://schemas.openxmlformats.org/officeDocument/2006/relationships/font" Target="fonts/Bodoni-boldItalic.fntdata"/><Relationship Id="rId27" Type="http://schemas.openxmlformats.org/officeDocument/2006/relationships/font" Target="fonts/Bodoni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839b32fc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6839b32fc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6839b32fc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Agenda 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rgbClr val="E6E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9"/>
          <p:cNvSpPr txBox="1"/>
          <p:nvPr>
            <p:ph type="title"/>
          </p:nvPr>
        </p:nvSpPr>
        <p:spPr>
          <a:xfrm>
            <a:off x="914400" y="883920"/>
            <a:ext cx="4114800" cy="505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  <a:defRPr sz="36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6475413" y="2438400"/>
            <a:ext cx="4799012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19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sezione 1">
  <p:cSld name="Titolo sezione 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/>
          <p:nvPr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rgbClr val="E6E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0"/>
          <p:cNvSpPr txBox="1"/>
          <p:nvPr>
            <p:ph type="title"/>
          </p:nvPr>
        </p:nvSpPr>
        <p:spPr>
          <a:xfrm>
            <a:off x="6478742" y="914399"/>
            <a:ext cx="4798858" cy="5029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odon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/>
          <p:nvPr>
            <p:ph idx="2" type="pic"/>
          </p:nvPr>
        </p:nvSpPr>
        <p:spPr>
          <a:xfrm>
            <a:off x="0" y="914400"/>
            <a:ext cx="5713413" cy="50292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testo e immagine">
  <p:cSld name="Titolo, testo e immagin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914399" y="853439"/>
            <a:ext cx="4802373" cy="2833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4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odon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914400" y="3931919"/>
            <a:ext cx="4802735" cy="20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/>
          <p:nvPr>
            <p:ph idx="2" type="pic"/>
          </p:nvPr>
        </p:nvSpPr>
        <p:spPr>
          <a:xfrm>
            <a:off x="6478587" y="921230"/>
            <a:ext cx="5713413" cy="50292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" name="Google Shape;34;p21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>
  <p:cSld name="Titolo e contenuto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914400" y="1020445"/>
            <a:ext cx="4114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475227" y="1020445"/>
            <a:ext cx="480273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  <a:defRPr sz="1400"/>
            </a:lvl3pPr>
            <a:lvl4pPr indent="-304800" lvl="3" marL="18288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  <a:defRPr sz="1200"/>
            </a:lvl4pPr>
            <a:lvl5pPr indent="-304800" lvl="4" marL="22860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22"/>
          <p:cNvSpPr/>
          <p:nvPr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rgbClr val="E6E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2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2 colonne layout 1">
  <p:cSld name="Titolo e 2 colonne layout 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929640" y="485113"/>
            <a:ext cx="10515600" cy="153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/>
          <p:nvPr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rgbClr val="E6E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3"/>
          <p:cNvSpPr txBox="1"/>
          <p:nvPr>
            <p:ph idx="1" type="body"/>
          </p:nvPr>
        </p:nvSpPr>
        <p:spPr>
          <a:xfrm>
            <a:off x="929640" y="2153285"/>
            <a:ext cx="4953001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2" type="body"/>
          </p:nvPr>
        </p:nvSpPr>
        <p:spPr>
          <a:xfrm>
            <a:off x="6309360" y="2153285"/>
            <a:ext cx="5135880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9" name="Google Shape;49;p23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2 colonne layout 2">
  <p:cSld name="Titolo e 2 colonne layout 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929640" y="485113"/>
            <a:ext cx="10515600" cy="153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/>
          <p:nvPr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rgbClr val="E6E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 txBox="1"/>
          <p:nvPr>
            <p:ph idx="1" type="body"/>
          </p:nvPr>
        </p:nvSpPr>
        <p:spPr>
          <a:xfrm>
            <a:off x="929641" y="2153285"/>
            <a:ext cx="3261359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b="1" sz="1800"/>
            </a:lvl1pPr>
            <a:lvl2pPr indent="-3302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 b="1" sz="16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 b="1" sz="1400"/>
            </a:lvl3pPr>
            <a:lvl4pPr indent="-3048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2" type="body"/>
          </p:nvPr>
        </p:nvSpPr>
        <p:spPr>
          <a:xfrm>
            <a:off x="4480560" y="2153285"/>
            <a:ext cx="6964680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7" name="Google Shape;57;p24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2 colonne layout 3">
  <p:cSld name="Titolo e 2 colonne layout 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929640" y="485113"/>
            <a:ext cx="10515600" cy="153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/>
          <p:nvPr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rgbClr val="E6E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929642" y="2153285"/>
            <a:ext cx="6925660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0" sz="1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b="0" sz="1800"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b="0" sz="1800"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b="0" sz="1800"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b="0"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8215745" y="2153285"/>
            <a:ext cx="3229495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b="1" sz="1800"/>
            </a:lvl1pPr>
            <a:lvl2pPr indent="-3302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 b="1" sz="16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 b="1" sz="1400"/>
            </a:lvl3pPr>
            <a:lvl4pPr indent="-3048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b="1" sz="1200"/>
            </a:lvl4pPr>
            <a:lvl5pPr indent="-3048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b="1" sz="12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65" name="Google Shape;65;p25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iusura">
  <p:cSld name="Chiusura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/>
          <p:nvPr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rgbClr val="E6E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6"/>
          <p:cNvSpPr txBox="1"/>
          <p:nvPr>
            <p:ph type="title"/>
          </p:nvPr>
        </p:nvSpPr>
        <p:spPr>
          <a:xfrm>
            <a:off x="899160" y="655320"/>
            <a:ext cx="4572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odon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6475413" y="2773680"/>
            <a:ext cx="4572000" cy="336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1">
  <p:cSld name="Titolo 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/>
          <p:nvPr>
            <p:ph idx="2" type="pic"/>
          </p:nvPr>
        </p:nvSpPr>
        <p:spPr>
          <a:xfrm>
            <a:off x="458788" y="457200"/>
            <a:ext cx="11274425" cy="59436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7"/>
          <p:cNvSpPr txBox="1"/>
          <p:nvPr>
            <p:ph type="title"/>
          </p:nvPr>
        </p:nvSpPr>
        <p:spPr>
          <a:xfrm>
            <a:off x="6581955" y="612475"/>
            <a:ext cx="4701904" cy="30790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odoni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contenuto e immagine">
  <p:cSld name="Titolo, contenuto e immagine">
    <p:bg>
      <p:bgPr>
        <a:solidFill>
          <a:srgbClr val="E6EDE7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>
            <a:off x="914400" y="900741"/>
            <a:ext cx="4802372" cy="27889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odon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>
            <a:off x="914400" y="3825239"/>
            <a:ext cx="4802735" cy="20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8"/>
          <p:cNvSpPr/>
          <p:nvPr>
            <p:ph idx="2" type="pic"/>
          </p:nvPr>
        </p:nvSpPr>
        <p:spPr>
          <a:xfrm>
            <a:off x="6478587" y="921230"/>
            <a:ext cx="5713413" cy="50292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9" name="Google Shape;79;p28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immagine e contenuto">
  <p:cSld name="Titolo, immagine e contenuto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916169" y="614812"/>
            <a:ext cx="1035965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/>
          <p:nvPr>
            <p:ph idx="2" type="pic"/>
          </p:nvPr>
        </p:nvSpPr>
        <p:spPr>
          <a:xfrm>
            <a:off x="-367" y="2177378"/>
            <a:ext cx="5713413" cy="4669987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9"/>
          <p:cNvSpPr txBox="1"/>
          <p:nvPr>
            <p:ph idx="1" type="body"/>
          </p:nvPr>
        </p:nvSpPr>
        <p:spPr>
          <a:xfrm>
            <a:off x="6475413" y="2153285"/>
            <a:ext cx="4799012" cy="3790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9"/>
          <p:cNvSpPr/>
          <p:nvPr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rgbClr val="E6ED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9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87" name="Google Shape;87;p29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, contenuto e tabella">
  <p:cSld name="Titolo, contenuto e tabella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 txBox="1"/>
          <p:nvPr>
            <p:ph type="title"/>
          </p:nvPr>
        </p:nvSpPr>
        <p:spPr>
          <a:xfrm>
            <a:off x="912629" y="5989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" type="body"/>
          </p:nvPr>
        </p:nvSpPr>
        <p:spPr>
          <a:xfrm>
            <a:off x="929641" y="2153285"/>
            <a:ext cx="3032759" cy="3790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3" name="Google Shape;93;p30"/>
          <p:cNvSpPr/>
          <p:nvPr/>
        </p:nvSpPr>
        <p:spPr>
          <a:xfrm>
            <a:off x="386317" y="352044"/>
            <a:ext cx="11419367" cy="6153912"/>
          </a:xfrm>
          <a:prstGeom prst="frame">
            <a:avLst>
              <a:gd fmla="val 217" name="adj1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ella">
  <p:cSld name="Tabella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1"/>
          <p:cNvSpPr txBox="1"/>
          <p:nvPr>
            <p:ph type="title"/>
          </p:nvPr>
        </p:nvSpPr>
        <p:spPr>
          <a:xfrm>
            <a:off x="929640" y="485113"/>
            <a:ext cx="10331450" cy="153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/>
          <p:nvPr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1"/>
          <p:cNvSpPr txBox="1"/>
          <p:nvPr>
            <p:ph idx="11" type="ftr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07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1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Bodoni"/>
              <a:buNone/>
              <a:defRPr b="0" i="0" sz="44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1920">
          <p15:clr>
            <a:srgbClr val="F26B43"/>
          </p15:clr>
        </p15:guide>
        <p15:guide id="4" pos="5760">
          <p15:clr>
            <a:srgbClr val="F26B43"/>
          </p15:clr>
        </p15:guide>
        <p15:guide id="5" pos="7248">
          <p15:clr>
            <a:srgbClr val="F26B43"/>
          </p15:clr>
        </p15:guide>
        <p15:guide id="6" pos="4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title"/>
          </p:nvPr>
        </p:nvSpPr>
        <p:spPr>
          <a:xfrm>
            <a:off x="3233796" y="969326"/>
            <a:ext cx="5966187" cy="433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Bodoni"/>
              <a:buNone/>
            </a:pPr>
            <a:r>
              <a:rPr b="0" i="0" lang="it-IT" sz="28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Medical Imaging &amp; Big Data</a:t>
            </a:r>
            <a:endParaRPr/>
          </a:p>
        </p:txBody>
      </p:sp>
      <p:pic>
        <p:nvPicPr>
          <p:cNvPr descr="Immagine che contiene testo, Carattere, poster, Elementi grafici&#10;&#10;Descrizione generata automaticamente"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554" y="576148"/>
            <a:ext cx="1535627" cy="164420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 txBox="1"/>
          <p:nvPr/>
        </p:nvSpPr>
        <p:spPr>
          <a:xfrm>
            <a:off x="3907971" y="1462781"/>
            <a:ext cx="4376058" cy="60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Bodoni"/>
              <a:buNone/>
            </a:pPr>
            <a:r>
              <a:rPr b="0" i="0" lang="it-IT" sz="20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Data Science Master’s Degree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Bodoni"/>
              <a:buNone/>
            </a:pPr>
            <a:r>
              <a:rPr b="0" i="0" lang="it-IT" sz="14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2024 – 2025 </a:t>
            </a:r>
            <a:endParaRPr b="0" i="0" sz="2000" u="none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914399" y="5371276"/>
            <a:ext cx="4376058" cy="60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0" lang="it-IT" sz="20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Induni Sandapiumi Nawarathna Pitiyage – 906451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0" lang="it-IT" sz="20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Sara Campolattano – 906453 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1528256" y="2780192"/>
            <a:ext cx="9135488" cy="1644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b="0" i="0" lang="it-IT" sz="36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for Brain Tumor Segmentation: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Times New Roman"/>
              <a:buNone/>
            </a:pPr>
            <a:r>
              <a:rPr b="0" i="0" lang="it-IT" sz="36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Dropout to Residual U-Nets with Augmentation</a:t>
            </a:r>
            <a:endParaRPr b="0" i="0" sz="3600" u="none" cap="none" strike="noStrike">
              <a:solidFill>
                <a:srgbClr val="3F3F3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4124908" y="746450"/>
            <a:ext cx="3942184" cy="59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48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Content Outline</a:t>
            </a:r>
            <a:endParaRPr b="0" i="1" sz="4800" u="sng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319114" y="1962541"/>
            <a:ext cx="6747978" cy="3505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▪"/>
            </a:pPr>
            <a:r>
              <a:rPr b="0" i="0" lang="it-IT" sz="24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Introduction &amp; Data Preprocessing</a:t>
            </a:r>
            <a:endParaRPr b="0" i="0" sz="2400" u="none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▪"/>
            </a:pPr>
            <a:r>
              <a:rPr b="0" i="0" lang="it-IT" sz="24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1: Baseline U-Net with Dropout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▪"/>
            </a:pPr>
            <a:r>
              <a:rPr b="0" i="0" lang="it-IT" sz="24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2: Data Augmentation Integration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▪"/>
            </a:pPr>
            <a:r>
              <a:rPr b="0" i="0" lang="it-IT" sz="24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3: Residual Connections in U-Net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▪"/>
            </a:pPr>
            <a:r>
              <a:rPr b="0" i="0" lang="it-IT" sz="24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4: Combined Enhancements</a:t>
            </a:r>
            <a:endParaRPr b="0" i="0" sz="2400" u="none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▪"/>
            </a:pPr>
            <a:r>
              <a:rPr b="0" i="0" lang="it-IT" sz="2400" u="none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Results Comparison &amp; Conclusions</a:t>
            </a:r>
            <a:endParaRPr b="0" i="0" sz="2400" u="none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  <a:p>
            <a:pPr indent="-19431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type="title"/>
          </p:nvPr>
        </p:nvSpPr>
        <p:spPr>
          <a:xfrm>
            <a:off x="3194469" y="550196"/>
            <a:ext cx="7576456" cy="5878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400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Introduction and Data Preprocessing</a:t>
            </a:r>
            <a:endParaRPr b="0" i="1" sz="3600" u="sng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122" name="Google Shape;122;p3"/>
          <p:cNvSpPr txBox="1"/>
          <p:nvPr>
            <p:ph idx="1" type="body"/>
          </p:nvPr>
        </p:nvSpPr>
        <p:spPr>
          <a:xfrm>
            <a:off x="777550" y="1356351"/>
            <a:ext cx="106368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focuses on the development of a deep learning pipeline for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semantic segmentation of brain tumors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MRI scans.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goal is to explore and progressively improve a U-Net-based architecture by incorporating key enhancements such as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dropout regularization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connections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777550" y="3530101"/>
            <a:ext cx="10636800" cy="27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data entailed is taken from the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BRATS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dataset, which includes pre-operative MRI scans from two groups:</a:t>
            </a:r>
            <a:endParaRPr/>
          </a:p>
          <a:p>
            <a:pPr indent="-285750" lvl="0" marL="28575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LGG (Low-Grade Glioma)</a:t>
            </a:r>
            <a:endParaRPr/>
          </a:p>
          <a:p>
            <a:pPr indent="-285750" lvl="0" marL="28575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GBM (Glioblastoma Multiforme)</a:t>
            </a:r>
            <a:endParaRPr/>
          </a:p>
          <a:p>
            <a:pPr indent="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839b32fce_0_0"/>
          <p:cNvSpPr txBox="1"/>
          <p:nvPr>
            <p:ph type="title"/>
          </p:nvPr>
        </p:nvSpPr>
        <p:spPr>
          <a:xfrm>
            <a:off x="3194469" y="550196"/>
            <a:ext cx="75765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400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Introduction and Data Preprocessing</a:t>
            </a:r>
            <a:endParaRPr b="0" i="1" sz="3600" u="sng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130" name="Google Shape;130;g36839b32fce_0_0"/>
          <p:cNvSpPr txBox="1"/>
          <p:nvPr/>
        </p:nvSpPr>
        <p:spPr>
          <a:xfrm>
            <a:off x="777600" y="1262325"/>
            <a:ext cx="10636800" cy="24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28575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sample contains multimodal 3D MRI volumes, typically with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channels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0" marL="28575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T1-weighted</a:t>
            </a:r>
            <a:endParaRPr/>
          </a:p>
          <a:p>
            <a:pPr indent="-285750" lvl="0" marL="28575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T1c (contrast-enhanced)</a:t>
            </a:r>
            <a:endParaRPr/>
          </a:p>
          <a:p>
            <a:pPr indent="-285750" lvl="0" marL="28575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T2-weighted</a:t>
            </a:r>
            <a:endParaRPr/>
          </a:p>
          <a:p>
            <a:pPr indent="-285750" lvl="0" marL="28575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FLAIR    </a:t>
            </a:r>
            <a:endParaRPr/>
          </a:p>
        </p:txBody>
      </p:sp>
      <p:pic>
        <p:nvPicPr>
          <p:cNvPr id="131" name="Google Shape;131;g36839b32fc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9200" y="3196750"/>
            <a:ext cx="8181785" cy="259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>
            <p:ph type="title"/>
          </p:nvPr>
        </p:nvSpPr>
        <p:spPr>
          <a:xfrm>
            <a:off x="3194469" y="550196"/>
            <a:ext cx="7576456" cy="587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Introduction and Data Preprocessing</a:t>
            </a:r>
            <a:endParaRPr b="0" i="1" sz="3600" u="sng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138" name="Google Shape;138;p4"/>
          <p:cNvSpPr txBox="1"/>
          <p:nvPr>
            <p:ph idx="1" type="body"/>
          </p:nvPr>
        </p:nvSpPr>
        <p:spPr>
          <a:xfrm>
            <a:off x="777551" y="1225730"/>
            <a:ext cx="10636898" cy="4275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prepare the data for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modeling:</a:t>
            </a:r>
            <a:endParaRPr/>
          </a:p>
          <a:p>
            <a:pPr indent="-228600" lvl="0" marL="22860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Volumes were resized to 120 × 120 × 77 voxels to ensure uniform input shape</a:t>
            </a:r>
            <a:endParaRPr/>
          </a:p>
          <a:p>
            <a:pPr indent="-228600" lvl="0" marL="22860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voxel intensities were scaled and normalized.</a:t>
            </a:r>
            <a:endParaRPr/>
          </a:p>
          <a:p>
            <a:pPr indent="-228600" lvl="0" marL="22860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Masks were converted to one-hot encoded arrays with binary channels for each class.</a:t>
            </a:r>
            <a:endParaRPr/>
          </a:p>
          <a:p>
            <a:pPr indent="0" lvl="0" marL="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was split into:</a:t>
            </a:r>
            <a:endParaRPr/>
          </a:p>
          <a:p>
            <a:pPr indent="-228600" lvl="0" marL="22860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67% for training 🡪 46 patients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33% for testing 🡪 24 patients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is stratified by patient volumes: each patient's 3D volume contributes 77 slices to the 2D training set. Preprocessed data is reshaped into 2D slices to support 2D convolution layers.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777551" y="5639393"/>
            <a:ext cx="1075508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aim is therefore to evaluate how architectural and training enhancements affect segmentation performance, measured through </a:t>
            </a: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Dice similarity coefficient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tumor subregions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>
            <p:ph type="title"/>
          </p:nvPr>
        </p:nvSpPr>
        <p:spPr>
          <a:xfrm>
            <a:off x="2307772" y="371623"/>
            <a:ext cx="7576456" cy="587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1: Baseline U-Net with Dropout 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777551" y="1111323"/>
            <a:ext cx="10636898" cy="5616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first phase is meant to implement a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baseline segmentation model 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a classic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U-Net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architecture with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dropout regularization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goal is to establish reference performance using core MRI inputs.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processes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2D MRI 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slices of shape 120×120×4 (four modalities per slice) and outputs a pixel-wise segmentation map with 4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softmax-activated channels.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was defined as follows: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1" lang="it-IT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three encoder blocks, each with:</a:t>
            </a:r>
            <a:b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two Conv2D layers (ReLU, padding='same’)</a:t>
            </a:r>
            <a:b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Dropout layers which rates increases with depth: 0.2 → 0.2 → 0.3</a:t>
            </a:r>
            <a:b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MaxPooling2D to reduce spatial dimensions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1" lang="it-IT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three Conv2D layers with 128 filters</a:t>
            </a:r>
            <a:b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final dropout with a higher rate of 0.4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1" lang="it-IT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Decoder:</a:t>
            </a:r>
            <a:b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three decoder blocks, each composed of:</a:t>
            </a:r>
            <a:b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UpSampling2D for resolution</a:t>
            </a:r>
            <a:b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two Conv2D layers (ReLU, padding='same’)</a:t>
            </a:r>
            <a:b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Dropout at each level: 0.3 → 0.2 → 0.2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1" lang="it-IT" sz="16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Layer:</a:t>
            </a:r>
            <a:br>
              <a:rPr b="1" i="1" lang="it-IT" sz="16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final Conv2D layer with 4</a:t>
            </a:r>
            <a:b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Softmax activation for multi-class segmentation per pixel</a:t>
            </a:r>
            <a:endParaRPr/>
          </a:p>
          <a:p>
            <a:pPr indent="-122872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type="title"/>
          </p:nvPr>
        </p:nvSpPr>
        <p:spPr>
          <a:xfrm>
            <a:off x="929640" y="485113"/>
            <a:ext cx="10515600" cy="153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1: Baseline U-Net with Dropout 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929640" y="2153285"/>
            <a:ext cx="4285455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model was compiled and then fit using categorical loss and trained using: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Batch size of 8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25 epochs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8223" y="2293963"/>
            <a:ext cx="5839377" cy="312406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5056" y="2556588"/>
            <a:ext cx="929663" cy="288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0656" y="4715069"/>
            <a:ext cx="929663" cy="288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>
            <p:ph type="title"/>
          </p:nvPr>
        </p:nvSpPr>
        <p:spPr>
          <a:xfrm>
            <a:off x="2905220" y="447559"/>
            <a:ext cx="7576456" cy="587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1: Baseline U-Net with Dropout 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777551" y="1111323"/>
            <a:ext cx="10636898" cy="5102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 assess segmentation quality, a </a:t>
            </a: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custom Dice coefficient function</a:t>
            </a: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was implemented to report that: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94" y="4008446"/>
            <a:ext cx="4847872" cy="225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2113" y="1546600"/>
            <a:ext cx="2972876" cy="471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 txBox="1"/>
          <p:nvPr/>
        </p:nvSpPr>
        <p:spPr>
          <a:xfrm>
            <a:off x="1085153" y="1729615"/>
            <a:ext cx="5608295" cy="2096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Whole tumor segmentation is strong, with scores tightly clustered above 0.85. The mean is 84.4% and median is 89.9%, consistent with the best phases following.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tumor performance is notably solid, with a mean of 74.2% and median of 79.7%, indicating improved consistency and reduced variance compared to the following phases.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Active tumor Dice scores are significantly better than Phases 1 and 2, with a mean of 60.1% and median of 72.0%, and a clear concentration of values above 0.6.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>
            <p:ph type="title"/>
          </p:nvPr>
        </p:nvSpPr>
        <p:spPr>
          <a:xfrm>
            <a:off x="768510" y="578397"/>
            <a:ext cx="7576456" cy="587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2: Data Augmentation Integration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615820" y="1147665"/>
            <a:ext cx="1097279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phase, we aimed to improve generalization by increasing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diversity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We retained the U-Net  architecture with dropout from Phase 1 and introduced a custom data augmentation pipeline for only 50% of the training data (i.e., 23 patients) applied directly to training slices.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custom augmentation function was applied the training set, producing diverse transformed images: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Spatial: horizontal/vertical flips, random image roll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Intensity: brightness, contrast jitter, multiplicative scaling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augmentations aim to simulate realistic scanning variations and anatomical shifts.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0295" y="4128779"/>
            <a:ext cx="5601699" cy="1778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603068" y="625151"/>
            <a:ext cx="10515600" cy="654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2: Data Augmentation Integration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929641" y="2153285"/>
            <a:ext cx="3261359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this case, the U-Net model previously defined was fit with:</a:t>
            </a:r>
            <a:b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batch size of 8</a:t>
            </a:r>
            <a:b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- 35 epochs</a:t>
            </a:r>
            <a:endParaRPr b="1"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Also in this case, a custom Dice coefficient accuracy function was implemented.</a:t>
            </a:r>
            <a:endParaRPr/>
          </a:p>
        </p:txBody>
      </p:sp>
      <p:pic>
        <p:nvPicPr>
          <p:cNvPr descr="Immagine che contiene testo, diagramma, Diagramma, linea&#10;&#10;Il contenuto generato dall'IA potrebbe non essere corretto." id="186" name="Google Shape;18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7139" y="2153285"/>
            <a:ext cx="6625220" cy="334573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9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612710" y="572264"/>
            <a:ext cx="10515600" cy="8123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2: Data Augmentation Integration</a:t>
            </a:r>
            <a:endParaRPr/>
          </a:p>
        </p:txBody>
      </p:sp>
      <p:pic>
        <p:nvPicPr>
          <p:cNvPr id="194" name="Google Shape;1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6796" y="1343570"/>
            <a:ext cx="3033828" cy="477768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3759" y="4189502"/>
            <a:ext cx="4482241" cy="209623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1050731" y="1738946"/>
            <a:ext cx="5608295" cy="2096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Whole tumor segmentation performs fairly well, with a mean of 79.9% and a high median of 89.1%, suggesting some low outliers but generally accurate results.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tumor scores are more dispersed, with a mean of 65.4% and median of 68.4%, indicating less consistent segmentation across patients.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Active tumor Dice scores are the weakest, with a mean of 49.1% and a median of 54.6%, showing a broad spread and multiple predictions under 0.5 — a sign of difficulty segmenting fine-grained tumor structures.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>
            <p:ph type="title"/>
          </p:nvPr>
        </p:nvSpPr>
        <p:spPr>
          <a:xfrm>
            <a:off x="664388" y="736748"/>
            <a:ext cx="6982408" cy="586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3: Residual Connections in U-Net</a:t>
            </a:r>
            <a:endParaRPr/>
          </a:p>
        </p:txBody>
      </p:sp>
      <p:sp>
        <p:nvSpPr>
          <p:cNvPr id="204" name="Google Shape;204;p11"/>
          <p:cNvSpPr txBox="1"/>
          <p:nvPr/>
        </p:nvSpPr>
        <p:spPr>
          <a:xfrm>
            <a:off x="631371" y="1705474"/>
            <a:ext cx="10896241" cy="4160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aim of this phase is to explore architectural improvements to the U-Net from Phase 1 by integrating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connections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within the encoder, bridge and decoder blocks. The goal is to enhance the model’s capacity to learn deeper, more expressive features without degradation in training performance. </a:t>
            </a:r>
            <a:endParaRPr/>
          </a:p>
          <a:p>
            <a:pPr indent="0" lvl="0" marL="0" marR="0" rtl="0" algn="just"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block includes:</a:t>
            </a:r>
            <a:endParaRPr/>
          </a:p>
          <a:p>
            <a:pPr indent="-285750" lvl="0" marL="285750" marR="0" rtl="0" algn="just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Conv2D layers (3×3)</a:t>
            </a:r>
            <a:endParaRPr/>
          </a:p>
          <a:p>
            <a:pPr indent="-285750" lvl="0" marL="285750" marR="0" rtl="0" algn="just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Dropout with increasing rate</a:t>
            </a:r>
            <a:endParaRPr/>
          </a:p>
          <a:p>
            <a:pPr indent="-285750" lvl="0" marL="285750" marR="0" rtl="0" algn="just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1×1 Conv2D shortcut to match dimension</a:t>
            </a:r>
            <a:endParaRPr/>
          </a:p>
          <a:p>
            <a:pPr indent="0" lvl="0" marL="0" marR="0" rtl="0" algn="l"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this case, the U-Net model previously defined was fit with:</a:t>
            </a:r>
            <a:b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batch size of 8</a:t>
            </a:r>
            <a:b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- 35 epochs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just"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7243" y="2696007"/>
            <a:ext cx="6410369" cy="316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 txBox="1"/>
          <p:nvPr/>
        </p:nvSpPr>
        <p:spPr>
          <a:xfrm>
            <a:off x="631371" y="6044078"/>
            <a:ext cx="4621764" cy="442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data augmentation was employes in this phase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664388" y="736748"/>
            <a:ext cx="6982408" cy="586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3: Residual Connections in U-Net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019802" y="1696143"/>
            <a:ext cx="5464974" cy="1826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Whole Dice scores are highly concentrated above 0.85, with a mean of 84.4% and median of 89.9%, indicating strong and consistent segmentation performance.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tumor Dice scores show slightly more variability, with a mean of 74.2% and median of 79.7%, reflecting good but less uniform segmentation.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Active tumor segmentation is the most challenging, with wider spread and a mean Dice of 60.1%. However, a median of 72.0% shows that many predictions were still accurate.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041" y="3934122"/>
            <a:ext cx="4839119" cy="2187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6796" y="1105250"/>
            <a:ext cx="3221108" cy="501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type="title"/>
          </p:nvPr>
        </p:nvSpPr>
        <p:spPr>
          <a:xfrm>
            <a:off x="664388" y="736748"/>
            <a:ext cx="6982408" cy="586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4: Combined Enhancements</a:t>
            </a:r>
            <a:endParaRPr b="0" i="1" sz="3600" u="sng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224" name="Google Shape;224;p13"/>
          <p:cNvSpPr txBox="1"/>
          <p:nvPr/>
        </p:nvSpPr>
        <p:spPr>
          <a:xfrm>
            <a:off x="631372" y="1462878"/>
            <a:ext cx="10938587" cy="488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final experimental phase aims to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 the strengths 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residual connections and data augmentation to try to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maximize model generalization 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segmentation precision.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Augmentation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function includes:</a:t>
            </a:r>
            <a:endParaRPr/>
          </a:p>
          <a:p>
            <a:pPr indent="-285750" lvl="0" marL="28575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transforms: roll, flip (horizontal &amp; vertical)</a:t>
            </a:r>
            <a:endParaRPr/>
          </a:p>
          <a:p>
            <a:pPr indent="-285750" lvl="0" marL="28575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Intensity changes: scaling, brightness and contrast variation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final training set contains data: original + augmented + shuffled split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is therefore a </a:t>
            </a:r>
            <a:r>
              <a:rPr b="1" i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Residual U-Net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with: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encoder–decoder using residual blocks, where each block includes:</a:t>
            </a:r>
            <a:b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Two Conv2D layers (3×3) + ReLU</a:t>
            </a:r>
            <a:b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 1×1 Conv2D shortcut path</a:t>
            </a:r>
            <a:b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increasing Dropout rates followed by ReLU</a:t>
            </a:r>
            <a:b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Output: Conv2D(4) with softmax activation for 4-class segmentation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/>
          <p:nvPr>
            <p:ph type="title"/>
          </p:nvPr>
        </p:nvSpPr>
        <p:spPr>
          <a:xfrm>
            <a:off x="664388" y="736748"/>
            <a:ext cx="6982408" cy="586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4: Combined Enhancements</a:t>
            </a:r>
            <a:endParaRPr b="0" i="1" sz="3600" u="sng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922774" y="2159918"/>
            <a:ext cx="3458307" cy="301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this case, the U-Net model previously defined was fit with: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batch size of 8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</a:pP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35 epochs</a:t>
            </a:r>
            <a:endParaRPr b="1"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217" y="2431223"/>
            <a:ext cx="6665407" cy="3235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>
            <p:ph type="title"/>
          </p:nvPr>
        </p:nvSpPr>
        <p:spPr>
          <a:xfrm>
            <a:off x="664388" y="736748"/>
            <a:ext cx="6982408" cy="586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Phase 4: Combined Enhancements</a:t>
            </a:r>
            <a:endParaRPr b="0" i="1" sz="3600" u="sng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697284" y="1577113"/>
            <a:ext cx="9575719" cy="1557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 this phase, the segmentation masks appear to be  the visually clear.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5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422793" y="1252725"/>
            <a:ext cx="3576299" cy="56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/>
          <p:nvPr>
            <p:ph type="title"/>
          </p:nvPr>
        </p:nvSpPr>
        <p:spPr>
          <a:xfrm>
            <a:off x="664388" y="736748"/>
            <a:ext cx="6982408" cy="586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Bodoni"/>
              <a:buNone/>
            </a:pPr>
            <a:r>
              <a:rPr b="0" i="1" lang="it-IT" sz="3600" u="sng" cap="none" strike="noStrike">
                <a:solidFill>
                  <a:srgbClr val="3F3F3F"/>
                </a:solidFill>
                <a:latin typeface="Bodoni"/>
                <a:ea typeface="Bodoni"/>
                <a:cs typeface="Bodoni"/>
                <a:sym typeface="Bodoni"/>
              </a:rPr>
              <a:t>Results Comparison &amp; Conclusios</a:t>
            </a:r>
            <a:endParaRPr b="0" i="1" sz="3600" u="sng" cap="none" strike="noStrike">
              <a:solidFill>
                <a:srgbClr val="3F3F3F"/>
              </a:solidFill>
              <a:latin typeface="Bodoni"/>
              <a:ea typeface="Bodoni"/>
              <a:cs typeface="Bodoni"/>
              <a:sym typeface="Bodoni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697285" y="1577113"/>
            <a:ext cx="4869502" cy="1557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 txBox="1"/>
          <p:nvPr>
            <p:ph idx="12" type="sldNum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16"/>
          <p:cNvGraphicFramePr/>
          <p:nvPr/>
        </p:nvGraphicFramePr>
        <p:xfrm>
          <a:off x="1100473" y="4218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{E925AEC6-4FEF-441D-9CD0-A08CC5C57B59}</a:tableStyleId>
              </a:tblPr>
              <a:tblGrid>
                <a:gridCol w="1383000"/>
                <a:gridCol w="1979400"/>
                <a:gridCol w="1787050"/>
                <a:gridCol w="2009825"/>
                <a:gridCol w="2619725"/>
              </a:tblGrid>
              <a:tr h="43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 u="none" cap="none" strike="noStrike"/>
                        <a:t>Phase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/>
                        <a:t>Train Loss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/>
                        <a:t>Validation Loss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/>
                        <a:t>Train Dice Accuracy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/>
                        <a:t>Validation Dice Accuracy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2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/>
                        <a:t>Phase 1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0.0087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0.0259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0.8755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0.8188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2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/>
                        <a:t>Phase 2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0.0041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0.0368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0.9435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0.7937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2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/>
                        <a:t>Phase 3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0.0052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0.0272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0.9265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0.8261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2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1800"/>
                        <a:t>Phase 4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0.0035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0.0287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0.9454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it-IT" sz="1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0.7833 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3" name="Google Shape;253;p16"/>
          <p:cNvSpPr txBox="1"/>
          <p:nvPr/>
        </p:nvSpPr>
        <p:spPr>
          <a:xfrm>
            <a:off x="777551" y="1346683"/>
            <a:ext cx="10636898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Across all phases, we observed steady improvements in training behavior and segmentation quality: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showed solid Dice performance but also signs of overfitting and masks with irregular, fragmented boundaries.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2 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slightly lower validation accuracy and noisy masks suggest overfitting to augmented data.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offered the best balance: with a validation Dice of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noticeably cleaner, more coherent segmentations, especially in active tumor regions.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i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despite reaching the lowest training loss and highest Dice during training, validation Dice slightly dropped. However, the </a:t>
            </a:r>
            <a:r>
              <a:rPr b="1"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segmentation masks </a:t>
            </a:r>
            <a:r>
              <a:rPr lang="it-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Phase 4 were the most visually accurate, capturing finer details and tumor borders with greater precision than any prior model.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type="title"/>
          </p:nvPr>
        </p:nvSpPr>
        <p:spPr>
          <a:xfrm>
            <a:off x="899159" y="655320"/>
            <a:ext cx="1021431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odoni"/>
              <a:buNone/>
            </a:pPr>
            <a:r>
              <a:rPr b="0" i="0" lang="it-IT" sz="4800" u="none" cap="none" strike="noStrike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rPr>
              <a:t>THANK YOU FOR YOUR ATTENTION!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zata">
  <a:themeElements>
    <a:clrScheme name="Custom 7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2025-06-14T10:45:21Z</dcterms:created>
  <dc:creator>Sara Campolattano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